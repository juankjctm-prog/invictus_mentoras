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4" r:id="rId9"/>
    <p:sldId id="273" r:id="rId10"/>
    <p:sldId id="261" r:id="rId11"/>
    <p:sldId id="269" r:id="rId12"/>
    <p:sldId id="265" r:id="rId13"/>
    <p:sldId id="266" r:id="rId14"/>
    <p:sldId id="264" r:id="rId15"/>
    <p:sldId id="262" r:id="rId16"/>
    <p:sldId id="263" r:id="rId17"/>
    <p:sldId id="267" r:id="rId18"/>
    <p:sldId id="268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1B4E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2D1B4E"/>
                </a:solidFill>
                <a:latin typeface="Arial"/>
              </a:rPr>
              <a:t>Mi curva de PPM — 78 días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PPM</c:v>
                </c:pt>
              </c:strCache>
            </c:strRef>
          </c:tx>
          <c:spPr>
            <a:ln w="38100" cap="flat">
              <a:solidFill>
                <a:srgbClr val="6D28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Día 1</c:v>
                </c:pt>
                <c:pt idx="1">
                  <c:v>Día 10</c:v>
                </c:pt>
                <c:pt idx="2">
                  <c:v>Día 20</c:v>
                </c:pt>
                <c:pt idx="3">
                  <c:v>Día 30</c:v>
                </c:pt>
                <c:pt idx="4">
                  <c:v>Día 40</c:v>
                </c:pt>
                <c:pt idx="5">
                  <c:v>Día 50</c:v>
                </c:pt>
                <c:pt idx="6">
                  <c:v>Día 60</c:v>
                </c:pt>
                <c:pt idx="7">
                  <c:v>Día 70</c:v>
                </c:pt>
                <c:pt idx="8">
                  <c:v>Día 78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130</c:v>
                </c:pt>
                <c:pt idx="1">
                  <c:v>170</c:v>
                </c:pt>
                <c:pt idx="2">
                  <c:v>200</c:v>
                </c:pt>
                <c:pt idx="3">
                  <c:v>230</c:v>
                </c:pt>
                <c:pt idx="4">
                  <c:v>255</c:v>
                </c:pt>
                <c:pt idx="5">
                  <c:v>275</c:v>
                </c:pt>
                <c:pt idx="6">
                  <c:v>295</c:v>
                </c:pt>
                <c:pt idx="7">
                  <c:v>315</c:v>
                </c:pt>
                <c:pt idx="8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CC1-4F7B-8949-94744EB1BE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40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926080" cy="292608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1828800" cy="1828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MIND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Mentoras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que se multiplica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Tecna Corp del Ecuador  ·  Mayo 2026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474720"/>
            <a:ext cx="320040" cy="32004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474720"/>
            <a:ext cx="320040" cy="32004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4747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Marjorie Castro  ·  Gerencia QHSE  ·  Assint / Invictus Mind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pregunta para empezar.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hubiera cambiado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carrera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hubieras tenido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alguien como tú?"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3886200"/>
            <a:ext cx="3657600" cy="0"/>
          </a:xfrm>
          <a:prstGeom prst="line">
            <a:avLst/>
          </a:prstGeom>
          <a:noFill/>
          <a:ln w="12700">
            <a:solidFill>
              <a:srgbClr val="DB27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tienes la oportunidad de ser esa persona para alguien.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del sector — números que no podemos ignorar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Mujeres en Oil &amp; Gas · Ecuador y América Latina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426464"/>
            <a:ext cx="475488" cy="47548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4533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3990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2120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fuerza laboral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 O&amp;G son mujeres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208" y="27066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1840" y="12618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6432" y="1426464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5453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1648" y="13990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40156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presencia femenina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Oil, Gas &amp; Mining (nivel entrada)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01568" y="27066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Gender Gap 2024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172200" y="12618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36792" y="1426464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54533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22008" y="13990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281928" y="20116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posiciones C-suite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ocupadas por mujeres en O&amp;G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81928" y="27066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O&amp;G 2024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11480" y="30906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76072" y="3255264"/>
            <a:ext cx="475488" cy="475488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374136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61288" y="32278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521208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salario que sus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masculinos en energía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21208" y="45354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 / ONU Mujeres 2024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3291840" y="30906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56432" y="3255264"/>
            <a:ext cx="475488" cy="47548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374136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41648" y="32278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</p:txBody>
      </p:sp>
      <p:sp>
        <p:nvSpPr>
          <p:cNvPr id="33" name="Text 26"/>
          <p:cNvSpPr/>
          <p:nvPr/>
        </p:nvSpPr>
        <p:spPr>
          <a:xfrm>
            <a:off x="3401568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mujeres en STEM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solo 42% llega a nivel ejecutivo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401568" y="45354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Business School 2025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172200" y="3090672"/>
            <a:ext cx="2697480" cy="164592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36792" y="3255264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664" y="337413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22008" y="322783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2800" dirty="0"/>
          </a:p>
        </p:txBody>
      </p:sp>
      <p:sp>
        <p:nvSpPr>
          <p:cNvPr id="39" name="Text 31"/>
          <p:cNvSpPr/>
          <p:nvPr/>
        </p:nvSpPr>
        <p:spPr>
          <a:xfrm>
            <a:off x="6281928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probabilidad de promoción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mentora activa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81928" y="453542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Research 2022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Ley de Economía Violeta 2024 — paridad en consejos directivos y salario igual. La obligación legal ya existe. El talento también. Lo que falta: el sistema para desarrollarlo.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ahora?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que Latinoamérica no puede seguir postergando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572768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6916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128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02920" y="290779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trabajadores no están comprometidos — causa principal: liderazgo deficiente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0832" y="1572768"/>
            <a:ext cx="548640" cy="54864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6916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2128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383280" y="290779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probabilidad de promoción tiene una mujer que tiene mentora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1192" y="157276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6916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2128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6263640" y="290779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mujeres que podrían ser mentoras nunca lo han sido — nadie les enseñó cómo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Gallup 2024 · Catalyst Research 2022 · McKinsey 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completo de Invictus Mind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lectora · Concentración · Memoria · Neuroplasticidad · Mentoría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274320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Concentración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149961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4533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cronometrado automático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1984248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029968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adaptativo presiona al cerebro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468880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1460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bloques de 5 palabras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2953512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9992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activo en contexto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" y="3438144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48386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regresiones oculares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" y="392277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1E3A6B">
              <a:alpha val="40000"/>
            </a:srgbClr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96849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+161% PPM en 78 días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9272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9272" y="1188720"/>
            <a:ext cx="27432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216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149961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154533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activo sin ver el texto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1984248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2029968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espaciada inteligente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468880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251460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dual: palabra + imagen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953512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9992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 activado con práctica diaria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438144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348386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 TMR: Binaural Theta 6Hz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392277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3B1E78">
              <a:alpha val="40000"/>
            </a:srgbClr>
          </a:solidFill>
          <a:ln w="12700">
            <a:solidFill>
              <a:srgbClr val="3B1E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96849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Hebb: neuronas que aprenden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27064" y="1188720"/>
            <a:ext cx="2743200" cy="3566160"/>
          </a:xfrm>
          <a:prstGeom prst="roundRect">
            <a:avLst>
              <a:gd name="adj" fmla="val 4000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7064" y="1188720"/>
            <a:ext cx="2743200" cy="5943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1216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Científico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6792" y="149961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154533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fases estructuradas por sesión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36792" y="1984248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2029968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Feynman cada 7 días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36792" y="2468880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2514600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del Yo Futuro a mano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36792" y="2953512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2999232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psicológica (Edmondson HBS)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36792" y="3438144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3483864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Pigmalión — creer produce resultado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36792" y="3922776"/>
            <a:ext cx="2514600" cy="411480"/>
          </a:xfrm>
          <a:prstGeom prst="roundRect">
            <a:avLst>
              <a:gd name="adj" fmla="val 26667"/>
            </a:avLst>
          </a:prstGeom>
          <a:solidFill>
            <a:srgbClr val="6B1E3A">
              <a:alpha val="40000"/>
            </a:srgbClr>
          </a:solidFill>
          <a:ln w="12700">
            <a:solidFill>
              <a:srgbClr val="6B1E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1656" y="3968496"/>
            <a:ext cx="2404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Multiplicación: ella formará a la siguiente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2860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MIND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mente invencible que llevas dentro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207008"/>
            <a:ext cx="54864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53312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5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plataforma de evolución cognitiva para Latinoamérica — combina velocidad lectora, memoria, concentración y neuroplasticidad en 20 minutos al día, con base científica de Harvard, MIT e INCAE.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2788920" cy="2697480"/>
          </a:xfrm>
          <a:prstGeom prst="roundRect">
            <a:avLst>
              <a:gd name="adj" fmla="val 4068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33172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450592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907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lectura rápida?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95% de ejecutivos lee menos de 250 PPM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21208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lleva ese número a 340+ en 78 días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1208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+ comprensión = mejores decisiones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1208" y="4443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científicos: Harvard · MIT · INCAE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19272" y="2212848"/>
            <a:ext cx="2788920" cy="2697480"/>
          </a:xfrm>
          <a:prstGeom prst="roundRect">
            <a:avLst>
              <a:gd name="adj" fmla="val 4068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233172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2450592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10712" y="2907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memoria?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2900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activo: respondes sin ver el texto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29000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espaciada: repaso antes del olvido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429000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dual: palabra + imagen mental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29000" y="4443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 TMR: consolidas mientras duermes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27064" y="2212848"/>
            <a:ext cx="2788920" cy="2697480"/>
          </a:xfrm>
          <a:prstGeom prst="roundRect">
            <a:avLst>
              <a:gd name="adj" fmla="val 4068"/>
            </a:avLst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24344" y="2331720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788" y="2450592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18504" y="29077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neuroplasticidad?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36792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adulto sí cambia con práctica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336792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BDNF: proteína de crecimiento neuronal activa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336792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Yo Futuro: visualizar = construir circuitos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336792" y="4443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 78 tu cerebro es biológicamente distinto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LA SOLUCIÓN — QUÉ ES MENTALYA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E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MentalYa no es una app de lectura rápida.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de desarrollo cognitivo que usa la lectura rápida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puerta de entrada al conocimiento que cambia carreras.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" y="1783080"/>
            <a:ext cx="4114800" cy="3017520"/>
          </a:xfrm>
          <a:prstGeom prst="rect">
            <a:avLst/>
          </a:prstGeom>
          <a:solidFill>
            <a:srgbClr val="162848"/>
          </a:solidFill>
          <a:ln w="12700">
            <a:solidFill>
              <a:srgbClr val="2E75B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783080"/>
            <a:ext cx="411480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801368"/>
            <a:ext cx="3968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LA BASE TÉCNICA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E4F0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LECTURA RÁPIDA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2907792"/>
            <a:ext cx="3931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2608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Fluidez progresiva: de 100 a 350 PPM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55264"/>
            <a:ext cx="3931920" cy="301752"/>
          </a:xfrm>
          <a:prstGeom prst="rect">
            <a:avLst/>
          </a:prstGeom>
          <a:solidFill>
            <a:srgbClr val="162848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73552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Comprensión en 4 niveles — no solo velocidad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3931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Memoria de trabajo entrenada sesión a sesión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950208"/>
            <a:ext cx="3931920" cy="301752"/>
          </a:xfrm>
          <a:prstGeom prst="rect">
            <a:avLst/>
          </a:prstGeom>
          <a:solidFill>
            <a:srgbClr val="162848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68496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 minutos diarios — hábito sostenible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297680"/>
            <a:ext cx="393192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15968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Resultados medibles desde la semana 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4297680" cy="3017520"/>
          </a:xfrm>
          <a:prstGeom prst="rect">
            <a:avLst/>
          </a:prstGeom>
          <a:solidFill>
            <a:srgbClr val="1A3510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783080"/>
            <a:ext cx="429768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801368"/>
            <a:ext cx="4151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EL PLUS QUE NOS DIFERENCIA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23591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FAF1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QUÉ LEES EN ESE TIEMPO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36592" y="2907792"/>
            <a:ext cx="4151376" cy="301752"/>
          </a:xfrm>
          <a:prstGeom prst="rect">
            <a:avLst/>
          </a:prstGeom>
          <a:solidFill>
            <a:srgbClr val="1E3A1E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926080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Textos originales basados en ciencia de punta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3255264"/>
            <a:ext cx="4151376" cy="301752"/>
          </a:xfrm>
          <a:prstGeom prst="rect">
            <a:avLst/>
          </a:prstGeom>
          <a:solidFill>
            <a:srgbClr val="1A3510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273552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Los mismos papers que estudian en MIT — en español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36592" y="3602736"/>
            <a:ext cx="4151376" cy="301752"/>
          </a:xfrm>
          <a:prstGeom prst="rect">
            <a:avLst/>
          </a:prstGeom>
          <a:solidFill>
            <a:srgbClr val="1E3A1E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3621024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Filosofía, neurociencia, economía, liderazgo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3950208"/>
            <a:ext cx="4151376" cy="301752"/>
          </a:xfrm>
          <a:prstGeom prst="rect">
            <a:avLst/>
          </a:prstGeom>
          <a:solidFill>
            <a:srgbClr val="1A3510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968496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 preguntas que obligan a pensar, no solo leer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36592" y="4297680"/>
            <a:ext cx="4151376" cy="301752"/>
          </a:xfrm>
          <a:prstGeom prst="rect">
            <a:avLst/>
          </a:prstGeom>
          <a:solidFill>
            <a:srgbClr val="1E3A1E"/>
          </a:solidFill>
          <a:ln w="12700">
            <a:solidFill>
              <a:srgbClr val="2D5A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968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Vocabulario técnico que abre puertas profesionales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24528" y="1783080"/>
            <a:ext cx="54864" cy="3017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87952" y="29260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+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LOS RESULTADOS — Lo que Produce MentalYa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 60 sesiones, el lector no solo lee más rápido.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conjunto medible de habilidades que el mercado laboral paga.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25880"/>
            <a:ext cx="2834640" cy="1691640"/>
          </a:xfrm>
          <a:prstGeom prst="rect">
            <a:avLst/>
          </a:prstGeom>
          <a:solidFill>
            <a:srgbClr val="F8F9FC"/>
          </a:solidFill>
          <a:ln w="12700">
            <a:solidFill>
              <a:srgbClr val="1B3A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25880"/>
            <a:ext cx="283464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2608" y="18013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2-3x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" y="21488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lectora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228600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4414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80-120 PPM promedio en LATAM → 250-350 PPM al día 60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325880"/>
            <a:ext cx="2834640" cy="1691640"/>
          </a:xfrm>
          <a:prstGeom prst="rect">
            <a:avLst/>
          </a:prstGeom>
          <a:solidFill>
            <a:srgbClr val="F0FFF4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325880"/>
            <a:ext cx="283464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82696" y="18013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449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 niveles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82696" y="21488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47288" y="2386584"/>
            <a:ext cx="2286000" cy="27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4414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para recordar → Leer para evaluar, criticar y proponer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3056" y="1325880"/>
            <a:ext cx="2834640" cy="1691640"/>
          </a:xfrm>
          <a:prstGeom prst="rect">
            <a:avLst/>
          </a:prstGeom>
          <a:solidFill>
            <a:srgbClr val="FFFBF0"/>
          </a:solidFill>
          <a:ln w="12700">
            <a:solidFill>
              <a:srgbClr val="CA6F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325880"/>
            <a:ext cx="283464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72784" y="180136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6F1E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150+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72784" y="21488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técnico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37376" y="2386584"/>
            <a:ext cx="2286000" cy="274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244144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generales → Lenguaje de ciencia, filosofía, economía y liderazgo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81912" y="3246120"/>
            <a:ext cx="2834640" cy="1691640"/>
          </a:xfrm>
          <a:prstGeom prst="rect">
            <a:avLst/>
          </a:prstGeom>
          <a:solidFill>
            <a:srgbClr val="FAF5FF"/>
          </a:solidFill>
          <a:ln w="12700">
            <a:solidFill>
              <a:srgbClr val="76448A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81912" y="3246120"/>
            <a:ext cx="2834640" cy="54864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81912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691640" y="37216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6448A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60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91640" y="40690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4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 élite procesadas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56232" y="4306824"/>
            <a:ext cx="2286000" cy="27432"/>
          </a:xfrm>
          <a:prstGeom prst="rect">
            <a:avLst/>
          </a:prstGeom>
          <a:solidFill>
            <a:srgbClr val="76448A"/>
          </a:solidFill>
          <a:ln w="12700">
            <a:solidFill>
              <a:srgbClr val="7644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436168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redes sociales → El pensamiento que mueve el mundo — en español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246120"/>
            <a:ext cx="2834640" cy="169164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24612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681728" y="3721608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 diaria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81728" y="40690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concreta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306824"/>
            <a:ext cx="228600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4361688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sin uso → Una acción diferente cada sesión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CÓMO FUNCIONA — UNA SESIÓN DE 20 MINUTOS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tiene 5 fases diseñadas científicamente.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Juntas, producen lo que 2 horas de estudio tradicional no producen.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50292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371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8229600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71600"/>
            <a:ext cx="36576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40817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40817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16459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Calentamiento cognitivo. El lector activa la memoria de trabajo antes de leer. Reduce 35% el tiempo de comprensión. No es opcional — es la ignición del motor.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103120"/>
            <a:ext cx="502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1031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21031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103120"/>
            <a:ext cx="36576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1396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 CRONOMETRADA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3969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9536" y="2377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del día. Cronometrado sin que el lector vea el reloj. Complejidad progresiva. Temática de élite: neurociencia, filosofía, economía, liderazgo, IA. En español con contexto latinoamericano.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502920" cy="5943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834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" y="2834640"/>
            <a:ext cx="8229600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2834640"/>
            <a:ext cx="36576" cy="59436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87121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EN 4 NIVELES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28712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9536" y="31089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preguntas: Literal (¿qué dice?), Inferencial (¿qué implica?), Crítica (¿estás de acuerdo?), Propositiva (¿cómo lo aplicarías?). El 4° nivel es el que las universidades raramente entrenan.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566160"/>
            <a:ext cx="502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566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9808" y="35661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566160"/>
            <a:ext cx="36576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360273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COGNITIVO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97480" y="360273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9536" y="384048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memoria de trabajo, pensamiento probabilístico o transferencia. Basado en investigaciones de Jaeggi (2008) y Ericsson (2016). Sin papel — el esfuerzo cognitivo es el punto.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4297680"/>
            <a:ext cx="50292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297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Black" pitchFamily="34" charset="0"/>
                <a:ea typeface="Calibri Black" pitchFamily="34" charset="-122"/>
                <a:cs typeface="Calibri Black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49808" y="4297680"/>
            <a:ext cx="8229600" cy="59436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4297680"/>
            <a:ext cx="36576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43342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INMEDIATA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433425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9536" y="45720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usas lo que leíste esta semana? Una acción concreta. Esta pregunta es lo que convierte el conocimiento en criterio propio.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371600"/>
            <a:ext cx="6400800" cy="64008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El ecosistema completo de Invictus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  <a:latin typeface="Calibri"/>
              </a:rPr>
              <a:t>11 programas · Master Tracks · Para cada etapa de la vida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658368"/>
            <a:ext cx="411480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694944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PILAR 1 — ACADEMIA POR EDADES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411480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33856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🟢  Exploradores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133856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6-8 años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133856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$19.99/mes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508760"/>
            <a:ext cx="411480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63624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🔵  Aventureros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563624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9-12 años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563624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$19.99/mes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38528"/>
            <a:ext cx="411480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993392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🔴  Maestros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993392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13-16 años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993392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$19.99/mes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368296"/>
            <a:ext cx="411480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23160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🎓  Universitario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423160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17-24 años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423160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$24.99/mes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798064"/>
            <a:ext cx="411480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52928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⚡  Profesional Imparable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2852928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25-40 años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2852928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$34.99/mes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227832"/>
            <a:ext cx="411480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282696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🏛️  Gerente 5D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3282696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35-55 años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282696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$49.99/mes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657600"/>
            <a:ext cx="411480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712464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🦋  Reinvención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3712464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Cualquier edad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712464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$29.99/mes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087368"/>
            <a:ext cx="411480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142232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🌟  Senior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142232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60+ años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142232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$19.99/mes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517136"/>
            <a:ext cx="411480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572000"/>
            <a:ext cx="23774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💛  IE para Padres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572000"/>
            <a:ext cx="91440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  <a:latin typeface="Calibri"/>
              </a:rPr>
              <a:t>Padres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572000"/>
            <a:ext cx="77724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GRATIS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658368"/>
            <a:ext cx="429768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7448" y="694944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PILAR 2 — MASTER TRACKS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17720" y="1078992"/>
            <a:ext cx="429768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1133856"/>
            <a:ext cx="265176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🏛️  LÍDER 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1133856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  <a:latin typeface="Calibri"/>
              </a:rPr>
              <a:t>$199  pago único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1508760"/>
            <a:ext cx="429768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60" y="1563624"/>
            <a:ext cx="265176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💰  Imprimir Dinero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1563624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  <a:latin typeface="Calibri"/>
              </a:rPr>
              <a:t>$149  pago único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1938528"/>
            <a:ext cx="4297680" cy="402336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60" y="1993392"/>
            <a:ext cx="265176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🤖  Inteligencia Humana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1993392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  <a:latin typeface="Calibri"/>
              </a:rPr>
              <a:t>$149  pago único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2368296"/>
            <a:ext cx="429768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09160" y="2423160"/>
            <a:ext cx="265176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🗣️  Comunicación e Influencia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9480" y="2423160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  <a:latin typeface="Calibri"/>
              </a:rPr>
              <a:t>$149  pago único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2798064"/>
            <a:ext cx="4297680" cy="402336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2852928"/>
            <a:ext cx="265176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🌸  Mujeres Mentoras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2852928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CE7F3"/>
                </a:solidFill>
                <a:latin typeface="Calibri"/>
              </a:rPr>
              <a:t>★ activo en Tecna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3337560"/>
            <a:ext cx="4297680" cy="29260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8" y="3383280"/>
            <a:ext cx="416052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 DESARROLLO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17720" y="3666744"/>
            <a:ext cx="4297680" cy="338328"/>
          </a:xfrm>
          <a:prstGeom prst="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60" y="371246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1D5DB"/>
                </a:solidFill>
                <a:latin typeface="Calibri"/>
              </a:rPr>
              <a:t>🔥  Ventas que Crecen  —  próximamente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17720" y="4023360"/>
            <a:ext cx="4297680" cy="338328"/>
          </a:xfrm>
          <a:prstGeom prst="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09160" y="40690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1D5DB"/>
                </a:solidFill>
                <a:latin typeface="Calibri"/>
              </a:rPr>
              <a:t>🌊  Estado de Flow  —  próximamente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4379976"/>
            <a:ext cx="4297680" cy="338328"/>
          </a:xfrm>
          <a:prstGeom prst="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60" y="442569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1D5DB"/>
                </a:solidFill>
                <a:latin typeface="Calibri"/>
              </a:rPr>
              <a:t>💡  Innovación  —  próximamente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457200"/>
            <a:ext cx="5486400" cy="5486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que se interrumpe en ti.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abuela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silenciosa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Invisibilidad como protección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19202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6D28D9">
              <a:alpha val="5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madre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herencia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primeros espacios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9202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con experiencia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método para dar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109728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6002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ingeniería que será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tú no tuviste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82296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cada una de ustedes desarrolla a 3 ingenieras, y cada una hace lo mismo: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83464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mentoreadas directas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93776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ciclo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6393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04088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ciclo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2743200" cy="27432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desarrollar a otra,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mirarte tú.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2700">
            <a:solidFill>
              <a:srgbClr val="DB2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1122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6344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¿Desde dónde lidero? ¿Es mío o heredado?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84832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96896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21122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39696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39696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Lipton: el 70% de lo que absorbemos antes de los 7 es limitante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758184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70248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692" y="21122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13048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impostor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813048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puedo acompañar a otra a cruzar un río que yo no he cruzado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31536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0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044" y="211226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perdón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0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Enright: perdonar es recuperar mi energía, no rendición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104888" y="1874520"/>
            <a:ext cx="1572768" cy="2743200"/>
          </a:xfrm>
          <a:prstGeom prst="roundRect">
            <a:avLst>
              <a:gd name="adj" fmla="val 6977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616952" y="1993392"/>
            <a:ext cx="502920" cy="50292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396" y="21122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59752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Autocompasión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159752" y="3017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Neff (Texas): la base del liderazgo sostenible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mentora que opera desde patrones no examinados reproduce exactamente los límites que quiere ayudar a superar."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4572000" cy="45720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cerebro no es fijo.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lo está recableando biológicamente.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1790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BDNF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51790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 de crecimiento neuronal — se upregula con práctica deliberada consistente (Nature Communications 2026)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4086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Ondas Theta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237744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34086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cerebral de máxima receptividad — activo en el Modo Sueño nocturno del programa (Theta 6Hz)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Hebb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0" y="320040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316382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neuronas que se activan juntas, se conectan juntas" — la repetición construye la mentora que quieres 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6D28D9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86784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 del Yo Futuro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4023360"/>
            <a:ext cx="0" cy="530352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3986784"/>
            <a:ext cx="5623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Pascual-Leone (Nature Rev. Neurosci.): la práctica mental activa los mismos circuitos que la experiencia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 78, el cerebro que tienes es biológicamente diferente al del Día 1.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Rectangl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Lo que ocurre en cada sesión — 12 fases · 30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Base científica: Harvard · MIT · INCAE · Dispenza · Kwik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658368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658368"/>
            <a:ext cx="288036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94944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858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5F4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69494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95097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Ancla de Sesión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31673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Intención + estado mental óptimo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658368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658368"/>
            <a:ext cx="288036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27832" y="694944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6858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69494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12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95097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Lectura Cronometrada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31673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Texto científico · PPM automático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2" y="658368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658368"/>
            <a:ext cx="288036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694944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6858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69494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incl.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95097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Vocabulario Activo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1316736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3 palabras · fuente científica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" y="1773936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1773936"/>
            <a:ext cx="28803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18105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1801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D4ED8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18105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4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" y="206654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Recall Activo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243230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4 preguntas · sin texto visible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1773936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1773936"/>
            <a:ext cx="28803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27832" y="18105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7832" y="1801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D4ED8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18105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1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206654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Codificación Dual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243230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Imagen mental · 2 rutas de memoria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08192" y="1773936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08192" y="1773936"/>
            <a:ext cx="2880360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81344" y="1810512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344" y="1801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D4ED8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18105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1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206654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Método de Loci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243230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Palace de Memoria · Kwik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1168" y="2889504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1168" y="2889504"/>
            <a:ext cx="288036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29260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29169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" y="292608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1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318211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Razonamiento Analógico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" y="354787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Inteligencia fluida · MIT 2025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54680" y="2889504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54680" y="2889504"/>
            <a:ext cx="2880360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7832" y="29260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27832" y="29169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292608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5 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6120" y="318211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Ejercicio Práctico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354787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Libreta IM física · a mano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08192" y="2889504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08192" y="2889504"/>
            <a:ext cx="288036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81344" y="2926080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81344" y="29169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5F46"/>
                </a:solidFill>
                <a:latin typeface="Calibri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8232" y="2926080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Día 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2" y="318211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Técnica Feynman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99632" y="354787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Explicar simple = entender profundo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1168" y="4005072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01168" y="4005072"/>
            <a:ext cx="2880360" cy="25603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4320" y="4041648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40325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65F46"/>
                </a:solidFill>
                <a:latin typeface="Calibr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" y="40416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30 seg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2608" y="429768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Metacognición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2608" y="466344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¿Qué aprendí? ¿Cómo mejoro?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154680" y="4005072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154680" y="4005072"/>
            <a:ext cx="2880360" cy="25603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27832" y="4041648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27832" y="40325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D174D"/>
                </a:solidFill>
                <a:latin typeface="Calibri"/>
              </a:rP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0" y="40416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1 min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46120" y="429768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Ensayo Yo Futuro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46120" y="466344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Neuroplasticidad · a mano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08192" y="4005072"/>
            <a:ext cx="2880360" cy="1060704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08192" y="4005072"/>
            <a:ext cx="2880360" cy="25603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81344" y="4041648"/>
            <a:ext cx="2011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81344" y="40325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D174D"/>
                </a:solidFill>
                <a:latin typeface="Calibri"/>
              </a:rP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28232" y="40416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8 min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9632" y="429768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Modo Sueño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9632" y="466344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Audio nocturno · Binaural Theta 6Hz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a 100 — El programa completo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empezamos y cómo salimos después de 78 sesiones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64008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16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D1-10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Espejo y la Raíz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· Epigenética · Impostor · Escritura expresiva · Perdón · Seguridad psicológica · Neuroplasticidad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0016" y="1170432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1170432"/>
            <a:ext cx="64008" cy="84124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16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D11-20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64608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Preguntar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3 niveles · Diálogo socrático · Modelo GROW · Conversaciones de carrera · Feedback CNV · Silenció activo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139696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139696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D21-30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que Construye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SBI · CNV Rosenberg · Conversaciones difíciles · Feedback de fortalezas · Feedback contextolatinoam.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0016" y="2139696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2139696"/>
            <a:ext cx="64008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85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· D31-40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414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Ética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sanos del rol · Ética de la mentoría · Dependencia como riesgo · Conflicto de interés · Derivación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1089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108960"/>
            <a:ext cx="64008" cy="8412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54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· D41-50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Mentoreada y su Impostor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Steele (Stanford) · Valerie Young · Ibarra (INSEAD) · Identidad de liderazgo · Visibilidad · Autocompasión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0016" y="31089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3108960"/>
            <a:ext cx="64008" cy="841248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154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· D51-60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Poder y Visibilidad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vs mentor · Herminia Ibarra · Visibilidad auténtica · Capital social · Conversaciones de carrera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4078224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4078224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123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· D61-70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Multiplicadoras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617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intencional · Legado · La mentoreada como futura mentora · Comunidad Invictus · Sesión Feynman grupal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0016" y="4078224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0016" y="4078224"/>
            <a:ext cx="64008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1239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· D71-78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64608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en Tecna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4617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final · Certificación Invictus Mind · Métricas para gerencia · Expansión interna · Impacto medido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572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— El Espejo y la Raíz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10 días. La base que hace posible todo lo que sigue.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 liderazgo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Ibarra (INSEAD) · Bandura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0700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Epigenética y creencias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Lipton (Stanford) · Yehuda (Mt. Sinai)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9632" y="120700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4813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intergeneracional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792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Yehuda · LeDoux (NYU)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21284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267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2487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síndrome del impostor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Clance · Valerie Young · Steele (Stanford)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21284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267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1568" y="2487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expresiva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01568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Pennebaker (UT Austin)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99632" y="221284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267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4871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Perdón estratégico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798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Enright (Wisconsin) · Worthington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21868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273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Feynman — integración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· Roediger · Harvard 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21868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273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01568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psicológica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01568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 (HBS) · Google Aristóteles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9632" y="321868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273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 deliberada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Dispenza · Nature Communications 2026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" y="4224528"/>
            <a:ext cx="2788920" cy="896112"/>
          </a:xfrm>
          <a:prstGeom prst="roundRect">
            <a:avLst>
              <a:gd name="adj" fmla="val 12245"/>
            </a:avLst>
          </a:prstGeom>
          <a:solidFill>
            <a:srgbClr val="6D28D9">
              <a:alpha val="4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4279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" y="4498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Bloque 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3776" y="48097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Kegan &amp; Lahey (HBS) · Delta PPM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1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evolución — visible cada día — y el compromiso que la hace posible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77240"/>
            <a:ext cx="3291840" cy="804672"/>
          </a:xfrm>
          <a:prstGeom prst="roundRect">
            <a:avLst>
              <a:gd name="adj" fmla="val 1363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822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inicial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0" y="10698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577840" y="1691640"/>
            <a:ext cx="3291840" cy="804672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7373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día 78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19842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577840" y="2606040"/>
            <a:ext cx="3291840" cy="804672"/>
          </a:xfrm>
          <a:prstGeom prst="roundRect">
            <a:avLst>
              <a:gd name="adj" fmla="val 13636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2651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89864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7216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que lo hace posible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05656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diarios — sin excepción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0565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9472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Libreta Invictus Mind — a mano, todos los días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312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" y="4416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Sueño activo cada noche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45312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19472" y="4416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semanal con las 3 mentoras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Planificación del Programa — Tecna Corp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  <a:latin typeface="Calibri"/>
              </a:rPr>
              <a:t>Cada etapa está secuenciada: primero el trabajo interno, después la multiplicación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685800"/>
            <a:ext cx="4251960" cy="14173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685800"/>
            <a:ext cx="4251960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7223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FASE 1 — INVICTUS MIND  (1 Jun → 17 Ago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1069848"/>
            <a:ext cx="1920240" cy="4389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088136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🏆  MENTORAS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Mujeres Mentoras · 78 sesiones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170432"/>
            <a:ext cx="228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6312" y="1069848"/>
            <a:ext cx="1920240" cy="43891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9464" y="1088136"/>
            <a:ext cx="1783080" cy="4206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🎯  MENTADAS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Profesional Imparable · 78 sesiones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157276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1 JUN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57276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12 JUN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1828800"/>
            <a:ext cx="4114800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83794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CE7F3"/>
                </a:solidFill>
                <a:latin typeface="Calibri"/>
              </a:rPr>
              <a:t>★  Charla con Líder de Empresa (durante Invictus)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1728" y="685800"/>
            <a:ext cx="2103120" cy="1417320"/>
          </a:xfrm>
          <a:prstGeom prst="round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740664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17 AGO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1033272"/>
            <a:ext cx="1993392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🎓 GRADUACIÓN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INVICTUS MIND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Inicio de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Mentorías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2212848"/>
            <a:ext cx="8741664" cy="237744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2212848"/>
            <a:ext cx="8741664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2249424"/>
            <a:ext cx="85222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FASE 2 — MENTORÍAS ACTIVAS  (17 Ago 2026 → 8 Mar 2027)  ·  5 módulos temáticos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" y="2596896"/>
            <a:ext cx="1664208" cy="128016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" y="265176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6426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5F46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980944"/>
            <a:ext cx="1517904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Identidad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 Confianza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75688" y="2596896"/>
            <a:ext cx="1664208" cy="12801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30552" y="265176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30552" y="26426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D28D9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2980944"/>
            <a:ext cx="1517904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Liderazgo y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Comunicación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3048" y="2596896"/>
            <a:ext cx="1664208" cy="1280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67912" y="265176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7912" y="26426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2980944"/>
            <a:ext cx="1517904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Visibilidad y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Marca Personal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50408" y="2596896"/>
            <a:ext cx="1664208" cy="12801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05272" y="265176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26426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2980944"/>
            <a:ext cx="1517904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Networking y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87768" y="2596896"/>
            <a:ext cx="1664208" cy="1280160"/>
          </a:xfrm>
          <a:prstGeom prst="round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42632" y="265176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2" y="26426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D174D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2980944"/>
            <a:ext cx="1517904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Plan de Acción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 Cierre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4352544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1D5DB"/>
                </a:solidFill>
                <a:latin typeface="Calibri"/>
              </a:rPr>
              <a:t>17 Ago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435254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E7F3"/>
                </a:solidFill>
                <a:latin typeface="Calibri"/>
              </a:rPr>
              <a:t>8 Mar 2027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4617720"/>
            <a:ext cx="8741664" cy="438912"/>
          </a:xfrm>
          <a:prstGeom prst="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4672584"/>
            <a:ext cx="852220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E7F3"/>
                </a:solidFill>
                <a:latin typeface="Calibri"/>
              </a:rPr>
              <a:t>🥐  DESAYUNO CIERRE · 8 Mar 2027 — Compartir experiencia con clientes:  Gente Oil  ·  PCR  ·  ENAP  ·  LUG  ·  Petro Ecuador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4114800" cy="4114800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INVICTUS MIND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mentora más poderosa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la que más sabe.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que más confía en lo que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otra puede llegar a ser."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286000" y="3246120"/>
            <a:ext cx="45720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¿Empezamos hoy?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78 sesiones  ·  30 min/día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Bloque 1 completamente gratuito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Libreta Invictus Mind incluida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Piloto Tecna Corp — Mayo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2216</Words>
  <Application>Microsoft Office PowerPoint</Application>
  <PresentationFormat>Presentación en pantalla (16:9)</PresentationFormat>
  <Paragraphs>385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Marjorie Castro</cp:lastModifiedBy>
  <cp:revision>2</cp:revision>
  <dcterms:created xsi:type="dcterms:W3CDTF">2026-05-13T18:37:11Z</dcterms:created>
  <dcterms:modified xsi:type="dcterms:W3CDTF">2026-05-15T11:52:04Z</dcterms:modified>
</cp:coreProperties>
</file>