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1" r:id="rId7"/>
    <p:sldId id="272" r:id="rId8"/>
    <p:sldId id="274" r:id="rId9"/>
    <p:sldId id="273" r:id="rId10"/>
    <p:sldId id="261" r:id="rId11"/>
    <p:sldId id="269" r:id="rId12"/>
    <p:sldId id="265" r:id="rId13"/>
    <p:sldId id="266" r:id="rId14"/>
    <p:sldId id="264" r:id="rId15"/>
    <p:sldId id="262" r:id="rId16"/>
    <p:sldId id="263" r:id="rId17"/>
    <p:sldId id="267" r:id="rId18"/>
    <p:sldId id="268" r:id="rId19"/>
    <p:sldId id="270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5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D1B4E"/>
                </a:solidFill>
                <a:latin typeface="Arial"/>
              </a:defRPr>
            </a:pPr>
            <a:r>
              <a:rPr lang="es-MX" sz="1200" b="0" i="0" u="none" strike="noStrike">
                <a:solidFill>
                  <a:srgbClr val="2D1B4E"/>
                </a:solidFill>
                <a:latin typeface="Arial"/>
              </a:rPr>
              <a:t>Mi curva de PPM — 78 días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PPM</c:v>
                </c:pt>
              </c:strCache>
            </c:strRef>
          </c:tx>
          <c:spPr>
            <a:ln w="38100" cap="flat">
              <a:solidFill>
                <a:srgbClr val="6D28D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D28D9"/>
              </a:solidFill>
              <a:ln w="9525" cap="flat">
                <a:solidFill>
                  <a:srgbClr val="6D28D9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Día 1</c:v>
                </c:pt>
                <c:pt idx="1">
                  <c:v>Día 10</c:v>
                </c:pt>
                <c:pt idx="2">
                  <c:v>Día 20</c:v>
                </c:pt>
                <c:pt idx="3">
                  <c:v>Día 30</c:v>
                </c:pt>
                <c:pt idx="4">
                  <c:v>Día 40</c:v>
                </c:pt>
                <c:pt idx="5">
                  <c:v>Día 50</c:v>
                </c:pt>
                <c:pt idx="6">
                  <c:v>Día 60</c:v>
                </c:pt>
                <c:pt idx="7">
                  <c:v>Día 70</c:v>
                </c:pt>
                <c:pt idx="8">
                  <c:v>Día 78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130</c:v>
                </c:pt>
                <c:pt idx="1">
                  <c:v>170</c:v>
                </c:pt>
                <c:pt idx="2">
                  <c:v>200</c:v>
                </c:pt>
                <c:pt idx="3">
                  <c:v>230</c:v>
                </c:pt>
                <c:pt idx="4">
                  <c:v>255</c:v>
                </c:pt>
                <c:pt idx="5">
                  <c:v>275</c:v>
                </c:pt>
                <c:pt idx="6">
                  <c:v>295</c:v>
                </c:pt>
                <c:pt idx="7">
                  <c:v>315</c:v>
                </c:pt>
                <c:pt idx="8">
                  <c:v>340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CC1-4F7B-8949-94744EB1BE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40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474720"/>
            <a:ext cx="2926080" cy="2926080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097280"/>
            <a:ext cx="1828800" cy="18288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INVICTUS MIND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Mujeres Mentoras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liderazgo que se multiplica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0" y="2651760"/>
            <a:ext cx="457200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Tecna Corp del Ecuador  ·  Mayo 2026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474720"/>
            <a:ext cx="320040" cy="32004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474720"/>
            <a:ext cx="320040" cy="32004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34747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Marjorie Castro  ·  Gerencia QHSE  ·  Assint / Invictus Mind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pregunta para empezar.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"¿Qué hubiera cambiado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carrera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hubieras tenido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alguien como tú?"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0" y="3886200"/>
            <a:ext cx="3657600" cy="0"/>
          </a:xfrm>
          <a:prstGeom prst="line">
            <a:avLst/>
          </a:prstGeom>
          <a:noFill/>
          <a:ln w="12700">
            <a:solidFill>
              <a:srgbClr val="DB27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tienes la oportunidad de ser esa persona para alguien.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realidad del sector — números que no podemos ignorar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Mujeres en Oil &amp; Gas · Ecuador y América Latina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426464"/>
            <a:ext cx="475488" cy="475488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54533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1288" y="139903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21208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fuerza laboral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en O&amp;G son mujeres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21208" y="270662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2024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91840" y="1261872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56432" y="1426464"/>
            <a:ext cx="475488" cy="47548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154533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41648" y="139903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3401568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presencia femenina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Oil, Gas &amp; Mining (nivel entrada)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401568" y="270662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WEF Gender Gap 2024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6172200" y="1261872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36792" y="1426464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54533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22008" y="139903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6281928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posiciones C-suite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ocupadas por mujeres en O&amp;G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281928" y="270662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O&amp;G 2024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11480" y="3090672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76072" y="3255264"/>
            <a:ext cx="475488" cy="475488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374136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61288" y="322783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800" dirty="0"/>
          </a:p>
        </p:txBody>
      </p:sp>
      <p:sp>
        <p:nvSpPr>
          <p:cNvPr id="27" name="Text 21"/>
          <p:cNvSpPr/>
          <p:nvPr/>
        </p:nvSpPr>
        <p:spPr>
          <a:xfrm>
            <a:off x="521208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salario que sus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masculinos en energía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21208" y="453542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 / ONU Mujeres 2024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3291840" y="3090672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456432" y="3255264"/>
            <a:ext cx="475488" cy="475488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5304" y="3374136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041648" y="322783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2800" dirty="0"/>
          </a:p>
        </p:txBody>
      </p:sp>
      <p:sp>
        <p:nvSpPr>
          <p:cNvPr id="33" name="Text 26"/>
          <p:cNvSpPr/>
          <p:nvPr/>
        </p:nvSpPr>
        <p:spPr>
          <a:xfrm>
            <a:off x="3401568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mujeres en STEM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solo 42% llega a nivel ejecutivo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3401568" y="453542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Business School 2025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6172200" y="3090672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336792" y="3255264"/>
            <a:ext cx="475488" cy="47548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3374136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922008" y="322783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2800" dirty="0"/>
          </a:p>
        </p:txBody>
      </p:sp>
      <p:sp>
        <p:nvSpPr>
          <p:cNvPr id="39" name="Text 31"/>
          <p:cNvSpPr/>
          <p:nvPr/>
        </p:nvSpPr>
        <p:spPr>
          <a:xfrm>
            <a:off x="6281928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probabilidad de promoción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mentora activa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6281928" y="453542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Research 2022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Ecuador: Ley de Economía Violeta 2024 — paridad en consejos directivos y salario igual. La obligación legal ya existe. El talento también. Lo que falta: el sistema para desarrollarlo.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ahora?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que Latinoamérica no puede seguir postergando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0472" y="1572768"/>
            <a:ext cx="548640" cy="5486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169164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21284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02920" y="2907792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trabajadores no están comprometidos — causa principal: liderazgo deficiente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41732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70832" y="1572768"/>
            <a:ext cx="548640" cy="548640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04" y="169164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21284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3383280" y="2907792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probabilidad de promoción tiene una mujer que tiene mentora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72200" y="141732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51192" y="1572768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169164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221284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3800" dirty="0"/>
          </a:p>
        </p:txBody>
      </p:sp>
      <p:sp>
        <p:nvSpPr>
          <p:cNvPr id="19" name="Text 14"/>
          <p:cNvSpPr/>
          <p:nvPr/>
        </p:nvSpPr>
        <p:spPr>
          <a:xfrm>
            <a:off x="6263640" y="2907792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mujeres que podrían ser mentoras nunca lo han sido — nadie les enseñó cómo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Gallup 2024 · Catalyst Research 2022 · McKinsey 2023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2743200" cy="2743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completo de Invictus Mind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lectora · Concentración · Memoria · Neuroplasticidad · Mentoría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2743200" cy="5943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161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Rápida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Concentración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" y="1499616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1E3A6B">
              <a:alpha val="40000"/>
            </a:srgbClr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545336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PPM cronometrado automático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1984248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1E3A6B">
              <a:alpha val="40000"/>
            </a:srgbClr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029968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adaptativo presiona al cerebro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" y="2468880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1E3A6B">
              <a:alpha val="40000"/>
            </a:srgbClr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51460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— bloques de 5 palabras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" y="2953512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1E3A6B">
              <a:alpha val="40000"/>
            </a:srgbClr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999232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activo en contexto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" y="3438144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1E3A6B">
              <a:alpha val="40000"/>
            </a:srgbClr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483864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regresiones oculares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" y="3922776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1E3A6B">
              <a:alpha val="40000"/>
            </a:srgbClr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3968496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+161% PPM en 78 días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9272" y="118872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9272" y="1188720"/>
            <a:ext cx="274320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12161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29000" y="1499616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3B1E78">
              <a:alpha val="40000"/>
            </a:srgbClr>
          </a:solidFill>
          <a:ln w="12700">
            <a:solidFill>
              <a:srgbClr val="3B1E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83864" y="1545336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activo sin ver el texto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1984248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3B1E78">
              <a:alpha val="40000"/>
            </a:srgbClr>
          </a:solidFill>
          <a:ln w="12700">
            <a:solidFill>
              <a:srgbClr val="3B1E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83864" y="2029968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Repetición espaciada inteligente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29000" y="2468880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3B1E78">
              <a:alpha val="40000"/>
            </a:srgbClr>
          </a:solidFill>
          <a:ln w="12700">
            <a:solidFill>
              <a:srgbClr val="3B1E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83864" y="251460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dual: palabra + imagen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29000" y="2953512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3B1E78">
              <a:alpha val="40000"/>
            </a:srgbClr>
          </a:solidFill>
          <a:ln w="12700">
            <a:solidFill>
              <a:srgbClr val="3B1E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83864" y="2999232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BDNF activado con práctica diaria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29000" y="3438144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3B1E78">
              <a:alpha val="40000"/>
            </a:srgbClr>
          </a:solidFill>
          <a:ln w="12700">
            <a:solidFill>
              <a:srgbClr val="3B1E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83864" y="3483864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Sueño TMR: Binaural Theta 6Hz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29000" y="3922776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3B1E78">
              <a:alpha val="40000"/>
            </a:srgbClr>
          </a:solidFill>
          <a:ln w="12700">
            <a:solidFill>
              <a:srgbClr val="3B1E7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83864" y="3968496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 Hebb: neuronas que aprenden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27064" y="118872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7064" y="1188720"/>
            <a:ext cx="2743200" cy="59436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8504" y="12161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Mentoría con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Científico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36792" y="1499616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6B1E3A">
              <a:alpha val="40000"/>
            </a:srgbClr>
          </a:solidFill>
          <a:ln w="12700">
            <a:solidFill>
              <a:srgbClr val="6B1E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1656" y="1545336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fases estructuradas por sesión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36792" y="1984248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6B1E3A">
              <a:alpha val="40000"/>
            </a:srgbClr>
          </a:solidFill>
          <a:ln w="12700">
            <a:solidFill>
              <a:srgbClr val="6B1E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1656" y="2029968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Feynman cada 7 días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36792" y="2468880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6B1E3A">
              <a:alpha val="40000"/>
            </a:srgbClr>
          </a:solidFill>
          <a:ln w="12700">
            <a:solidFill>
              <a:srgbClr val="6B1E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1656" y="251460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 del Yo Futuro a mano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36792" y="2953512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6B1E3A">
              <a:alpha val="40000"/>
            </a:srgbClr>
          </a:solidFill>
          <a:ln w="12700">
            <a:solidFill>
              <a:srgbClr val="6B1E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91656" y="2999232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psicológica (Edmondson HBS)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36792" y="3438144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6B1E3A">
              <a:alpha val="40000"/>
            </a:srgbClr>
          </a:solidFill>
          <a:ln w="12700">
            <a:solidFill>
              <a:srgbClr val="6B1E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91656" y="3483864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Pigmalión — creer produce resultado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36792" y="3922776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6B1E3A">
              <a:alpha val="40000"/>
            </a:srgbClr>
          </a:solidFill>
          <a:ln w="12700">
            <a:solidFill>
              <a:srgbClr val="6B1E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91656" y="3968496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Multiplicación: ella formará a la siguiente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2286000"/>
            <a:ext cx="2743200" cy="2743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INVICTUS MIND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mente invencible que llevas dentro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1207008"/>
            <a:ext cx="548640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53312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6D28D9">
              <a:alpha val="5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9888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plataforma de evolución cognitiva para Latinoamérica — combina velocidad lectora, memoria, concentración y neuroplasticidad en 20 minutos al día, con base científica de Harvard, MIT e INCAE.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212848"/>
            <a:ext cx="2788920" cy="2697480"/>
          </a:xfrm>
          <a:prstGeom prst="roundRect">
            <a:avLst>
              <a:gd name="adj" fmla="val 4068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2331720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04" y="2450592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29077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lectura rápida?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1208" y="3291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95% de ejecutivos lee menos de 250 PPM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21208" y="36758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Invictus lleva ese número a 340+ en 78 días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1208" y="40599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+ comprensión = mejores decisiones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21208" y="4443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científicos: Harvard · MIT · INCAE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319272" y="2212848"/>
            <a:ext cx="2788920" cy="2697480"/>
          </a:xfrm>
          <a:prstGeom prst="roundRect">
            <a:avLst>
              <a:gd name="adj" fmla="val 4068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16552" y="233172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996" y="2450592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10712" y="29077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memoria?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429000" y="3291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activo: respondes sin ver el texto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429000" y="36758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Repetición espaciada: repaso antes del olvido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429000" y="40599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dual: palabra + imagen mental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429000" y="4443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Sueño TMR: consolidas mientras duermes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227064" y="2212848"/>
            <a:ext cx="2788920" cy="2697480"/>
          </a:xfrm>
          <a:prstGeom prst="roundRect">
            <a:avLst>
              <a:gd name="adj" fmla="val 4068"/>
            </a:avLst>
          </a:prstGeom>
          <a:solidFill>
            <a:srgbClr val="831843"/>
          </a:solidFill>
          <a:ln w="12700">
            <a:solidFill>
              <a:srgbClr val="83184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324344" y="2331720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7788" y="2450592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318504" y="29077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neuroplasticidad?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336792" y="3291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cerebro adulto sí cambia con práctica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336792" y="36758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BDNF: proteína de crecimiento neuronal activa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336792" y="40599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 Yo Futuro: visualizar = construir circuitos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336792" y="4443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 78 tu cerebro es biológicamente distinto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LA SOLUCIÓN — QUÉ ES MENTALYA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5E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MentalYa no es una app de lectura rápida.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sistema de desarrollo cognitivo que usa la lectura rápida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puerta de entrada al conocimiento que cambia carreras.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82880" y="1783080"/>
            <a:ext cx="4114800" cy="3017520"/>
          </a:xfrm>
          <a:prstGeom prst="rect">
            <a:avLst/>
          </a:prstGeom>
          <a:solidFill>
            <a:srgbClr val="162848"/>
          </a:solidFill>
          <a:ln w="12700">
            <a:solidFill>
              <a:srgbClr val="2E75B6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783080"/>
            <a:ext cx="4114800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801368"/>
            <a:ext cx="3968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— LA BASE TÉCNICA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3591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6E4F0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LECTURA RÁPIDA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" y="2907792"/>
            <a:ext cx="3931920" cy="301752"/>
          </a:xfrm>
          <a:prstGeom prst="rect">
            <a:avLst/>
          </a:prstGeom>
          <a:solidFill>
            <a:srgbClr val="1E3A5F"/>
          </a:solidFill>
          <a:ln w="12700">
            <a:solidFill>
              <a:srgbClr val="243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26080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Fluidez progresiva: de 100 a 350 PPM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255264"/>
            <a:ext cx="3931920" cy="301752"/>
          </a:xfrm>
          <a:prstGeom prst="rect">
            <a:avLst/>
          </a:prstGeom>
          <a:solidFill>
            <a:srgbClr val="162848"/>
          </a:solidFill>
          <a:ln w="12700">
            <a:solidFill>
              <a:srgbClr val="243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273552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Comprensión en 4 niveles — no solo velocidad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602736"/>
            <a:ext cx="3931920" cy="301752"/>
          </a:xfrm>
          <a:prstGeom prst="rect">
            <a:avLst/>
          </a:prstGeom>
          <a:solidFill>
            <a:srgbClr val="1E3A5F"/>
          </a:solidFill>
          <a:ln w="12700">
            <a:solidFill>
              <a:srgbClr val="243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Memoria de trabajo entrenada sesión a sesión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950208"/>
            <a:ext cx="3931920" cy="301752"/>
          </a:xfrm>
          <a:prstGeom prst="rect">
            <a:avLst/>
          </a:prstGeom>
          <a:solidFill>
            <a:srgbClr val="162848"/>
          </a:solidFill>
          <a:ln w="12700">
            <a:solidFill>
              <a:srgbClr val="243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68496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 minutos diarios — hábito sostenible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4297680"/>
            <a:ext cx="3931920" cy="301752"/>
          </a:xfrm>
          <a:prstGeom prst="rect">
            <a:avLst/>
          </a:prstGeom>
          <a:solidFill>
            <a:srgbClr val="1E3A5F"/>
          </a:solidFill>
          <a:ln w="12700">
            <a:solidFill>
              <a:srgbClr val="243A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315968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Resultados medibles desde la semana 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783080"/>
            <a:ext cx="4297680" cy="3017520"/>
          </a:xfrm>
          <a:prstGeom prst="rect">
            <a:avLst/>
          </a:prstGeom>
          <a:solidFill>
            <a:srgbClr val="1A3510"/>
          </a:solidFill>
          <a:ln w="12700">
            <a:solidFill>
              <a:srgbClr val="1E8449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783080"/>
            <a:ext cx="4297680" cy="47548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801368"/>
            <a:ext cx="4151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— EL PLUS QUE NOS DIFERENCIA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235915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FAF1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QUÉ LEES EN ESE TIEMPO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736592" y="2907792"/>
            <a:ext cx="4151376" cy="301752"/>
          </a:xfrm>
          <a:prstGeom prst="rect">
            <a:avLst/>
          </a:prstGeom>
          <a:solidFill>
            <a:srgbClr val="1E3A1E"/>
          </a:solidFill>
          <a:ln w="12700">
            <a:solidFill>
              <a:srgbClr val="2D5A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926080"/>
            <a:ext cx="3968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Textos originales basados en ciencia de punta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36592" y="3255264"/>
            <a:ext cx="4151376" cy="301752"/>
          </a:xfrm>
          <a:prstGeom prst="rect">
            <a:avLst/>
          </a:prstGeom>
          <a:solidFill>
            <a:srgbClr val="1A3510"/>
          </a:solidFill>
          <a:ln w="12700">
            <a:solidFill>
              <a:srgbClr val="2D5A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273552"/>
            <a:ext cx="3968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Los mismos papers que estudian en MIT — en español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36592" y="3602736"/>
            <a:ext cx="4151376" cy="301752"/>
          </a:xfrm>
          <a:prstGeom prst="rect">
            <a:avLst/>
          </a:prstGeom>
          <a:solidFill>
            <a:srgbClr val="1E3A1E"/>
          </a:solidFill>
          <a:ln w="12700">
            <a:solidFill>
              <a:srgbClr val="2D5A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3621024"/>
            <a:ext cx="3968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Filosofía, neurociencia, economía, liderazgo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36592" y="3950208"/>
            <a:ext cx="4151376" cy="301752"/>
          </a:xfrm>
          <a:prstGeom prst="rect">
            <a:avLst/>
          </a:prstGeom>
          <a:solidFill>
            <a:srgbClr val="1A3510"/>
          </a:solidFill>
          <a:ln w="12700">
            <a:solidFill>
              <a:srgbClr val="2D5A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968496"/>
            <a:ext cx="3968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 preguntas que obligan a pensar, no solo leer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36592" y="4297680"/>
            <a:ext cx="4151376" cy="301752"/>
          </a:xfrm>
          <a:prstGeom prst="rect">
            <a:avLst/>
          </a:prstGeom>
          <a:solidFill>
            <a:srgbClr val="1E3A1E"/>
          </a:solidFill>
          <a:ln w="12700">
            <a:solidFill>
              <a:srgbClr val="2D5A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315968"/>
            <a:ext cx="3968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Vocabulario técnico que abre puertas profesionales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24528" y="1783080"/>
            <a:ext cx="54864" cy="3017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87952" y="292608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+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LOS RESULTADOS — Lo que Produce MentalYa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 de 60 sesiones, el lector no solo lee más rápido.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conjunto medible de habilidades que el mercado laboral paga.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325880"/>
            <a:ext cx="2834640" cy="1691640"/>
          </a:xfrm>
          <a:prstGeom prst="rect">
            <a:avLst/>
          </a:prstGeom>
          <a:solidFill>
            <a:srgbClr val="F8F9FC"/>
          </a:solidFill>
          <a:ln w="12700">
            <a:solidFill>
              <a:srgbClr val="1B3A6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325880"/>
            <a:ext cx="283464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3990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92608" y="180136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2-3x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2608" y="214884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lectora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2286000" cy="27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441448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80-120 PPM promedio en LATAM → 250-350 PPM al día 60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72968" y="1325880"/>
            <a:ext cx="2834640" cy="1691640"/>
          </a:xfrm>
          <a:prstGeom prst="rect">
            <a:avLst/>
          </a:prstGeom>
          <a:solidFill>
            <a:srgbClr val="F0FFF4"/>
          </a:solidFill>
          <a:ln w="12700">
            <a:solidFill>
              <a:srgbClr val="1E8449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325880"/>
            <a:ext cx="2834640" cy="548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13990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82696" y="180136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8449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4 niveles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82696" y="214884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47288" y="2386584"/>
            <a:ext cx="2286000" cy="274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82696" y="2441448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para recordar → Leer para evaluar, criticar y proponer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63056" y="1325880"/>
            <a:ext cx="2834640" cy="1691640"/>
          </a:xfrm>
          <a:prstGeom prst="rect">
            <a:avLst/>
          </a:prstGeom>
          <a:solidFill>
            <a:srgbClr val="FFFBF0"/>
          </a:solidFill>
          <a:ln w="12700">
            <a:solidFill>
              <a:srgbClr val="CA6F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63056" y="1325880"/>
            <a:ext cx="2834640" cy="54864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13990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72784" y="180136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6F1E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150+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72784" y="214884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técnico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37376" y="2386584"/>
            <a:ext cx="2286000" cy="27432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2441448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generales → Lenguaje de ciencia, filosofía, economía y liderazgo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581912" y="3246120"/>
            <a:ext cx="2834640" cy="1691640"/>
          </a:xfrm>
          <a:prstGeom prst="rect">
            <a:avLst/>
          </a:prstGeom>
          <a:solidFill>
            <a:srgbClr val="FAF5FF"/>
          </a:solidFill>
          <a:ln w="12700">
            <a:solidFill>
              <a:srgbClr val="76448A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581912" y="3246120"/>
            <a:ext cx="2834640" cy="54864"/>
          </a:xfrm>
          <a:prstGeom prst="rect">
            <a:avLst/>
          </a:prstGeom>
          <a:solidFill>
            <a:srgbClr val="76448A"/>
          </a:solidFill>
          <a:ln w="12700">
            <a:solidFill>
              <a:srgbClr val="7644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81912" y="331927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691640" y="372160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6448A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60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691640" y="406908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64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de élite procesadas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56232" y="4306824"/>
            <a:ext cx="2286000" cy="27432"/>
          </a:xfrm>
          <a:prstGeom prst="rect">
            <a:avLst/>
          </a:prstGeom>
          <a:solidFill>
            <a:srgbClr val="76448A"/>
          </a:solidFill>
          <a:ln w="12700">
            <a:solidFill>
              <a:srgbClr val="7644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91640" y="4361688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redes sociales → El pensamiento que mueve el mundo — en español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0" y="3246120"/>
            <a:ext cx="2834640" cy="1691640"/>
          </a:xfrm>
          <a:prstGeom prst="rect">
            <a:avLst/>
          </a:prstGeom>
          <a:solidFill>
            <a:srgbClr val="FFF5F5"/>
          </a:solidFill>
          <a:ln w="1270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3246120"/>
            <a:ext cx="2834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331927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4681728" y="372160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 diaria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681728" y="406908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concreta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4306824"/>
            <a:ext cx="228600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4361688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sin uso → Una acción diferente cada sesión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CÓMO FUNCIONA — UNA SESIÓN DE 20 MINUTOS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sesión tiene 5 fases diseñadas científicamente.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Juntas, producen lo que 2 horas de estudio tradicional no producen.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371600"/>
            <a:ext cx="502920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3716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808" y="1371600"/>
            <a:ext cx="8229600" cy="594360"/>
          </a:xfrm>
          <a:prstGeom prst="rect">
            <a:avLst/>
          </a:prstGeom>
          <a:solidFill>
            <a:srgbClr val="F8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371600"/>
            <a:ext cx="36576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4081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97480" y="140817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59536" y="164592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Calentamiento cognitivo. El lector activa la memoria de trabajo antes de leer. Reduce 35% el tiempo de comprensión. No es opcional — es la ignición del motor.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103120"/>
            <a:ext cx="50292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21031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49808" y="21031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103120"/>
            <a:ext cx="36576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213969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RÁPIDA CRONOMETRADA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213969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59536" y="237744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del día. Cronometrado sin que el lector vea el reloj. Complejidad progresiva. Temática de élite: neurociencia, filosofía, economía, liderazgo, IA. En español con contexto latinoamericano.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2834640"/>
            <a:ext cx="502920" cy="59436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28346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49808" y="2834640"/>
            <a:ext cx="8229600" cy="594360"/>
          </a:xfrm>
          <a:prstGeom prst="rect">
            <a:avLst/>
          </a:prstGeom>
          <a:solidFill>
            <a:srgbClr val="F8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2834640"/>
            <a:ext cx="36576" cy="59436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287121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EN 4 NIVELES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97480" y="287121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59536" y="310896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preguntas: Literal (¿qué dice?), Inferencial (¿qué implica?), Crítica (¿estás de acuerdo?), Propositiva (¿cómo lo aplicarías?). El 4° nivel es el que las universidades raramente entrenan.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3566160"/>
            <a:ext cx="50292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35661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49808" y="35661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3566160"/>
            <a:ext cx="36576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" y="360273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COGNITIVO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97480" y="360273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59536" y="384048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de memoria de trabajo, pensamiento probabilístico o transferencia. Basado en investigaciones de Jaeggi (2008) y Ericsson (2016). Sin papel — el esfuerzo cognitivo es el punto.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" y="4297680"/>
            <a:ext cx="50292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42976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49808" y="4297680"/>
            <a:ext cx="8229600" cy="594360"/>
          </a:xfrm>
          <a:prstGeom prst="rect">
            <a:avLst/>
          </a:prstGeom>
          <a:solidFill>
            <a:srgbClr val="F8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" y="4297680"/>
            <a:ext cx="36576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" y="433425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INMEDIATA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97480" y="433425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59536" y="45720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usas lo que leíste esta semana? Una acción concreta. Esta pregunta es lo que convierte el conocimiento en criterio propio.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-1371600"/>
            <a:ext cx="6400800" cy="64008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dar lo que no tenemos,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necesitamos llegar a otro nivel.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828800" y="1481328"/>
            <a:ext cx="5486400" cy="0"/>
          </a:xfrm>
          <a:prstGeom prst="line">
            <a:avLst/>
          </a:prstGeom>
          <a:noFill/>
          <a:ln w="12700">
            <a:solidFill>
              <a:srgbClr val="DB27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691640"/>
            <a:ext cx="8321040" cy="1188720"/>
          </a:xfrm>
          <a:prstGeom prst="roundRect">
            <a:avLst>
              <a:gd name="adj" fmla="val 9231"/>
            </a:avLst>
          </a:prstGeom>
          <a:solidFill>
            <a:srgbClr val="6D28D9">
              <a:alpha val="5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5564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investigación de Clutterbuck, Megginson y Bajer (16 países, 2016) es contundente: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 mentoras que hacen trabajo interno de autoconocimiento producen resultados significativamente mejores en sus mentoreadas que las que se enfocan solo en técnicas."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017520"/>
            <a:ext cx="1965960" cy="1828800"/>
          </a:xfrm>
          <a:prstGeom prst="roundRect">
            <a:avLst>
              <a:gd name="adj" fmla="val 6000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3127248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3246120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3703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cerebro primero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" y="406908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neuronas espejo transmiten tu estado interno — si no lo examinas, lo transmites en automático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496312" y="3017520"/>
            <a:ext cx="1965960" cy="1828800"/>
          </a:xfrm>
          <a:prstGeom prst="roundRect">
            <a:avLst>
              <a:gd name="adj" fmla="val 6000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0" y="3127248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3246120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87752" y="3703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impostor, el de ella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569464" y="406908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conoces tu propio síndrome del impostor, lo proyectas en la mentoreada sin saberlo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81144" y="3017520"/>
            <a:ext cx="1965960" cy="1828800"/>
          </a:xfrm>
          <a:prstGeom prst="roundRect">
            <a:avLst>
              <a:gd name="adj" fmla="val 6000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285232" y="3127248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104" y="3246120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72584" y="3703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energía libre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654296" y="406908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resentimiento activo y las cargas no procesadas consumen la energía que la mentoría necesita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665976" y="3017520"/>
            <a:ext cx="1965960" cy="1828800"/>
          </a:xfrm>
          <a:prstGeom prst="roundRect">
            <a:avLst>
              <a:gd name="adj" fmla="val 6000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370064" y="3127248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936" y="3246120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57416" y="3703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multiplicación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739128" y="406908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quien llegó a otro nivel puede llevar a otra. No se da lo que no se tiene.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-457200"/>
            <a:ext cx="5486400" cy="54864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cadena que se interrumpe en ti.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abuela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silenciosa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Invisibilidad como protección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23160" y="19202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6D28D9">
              <a:alpha val="5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madre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16002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de herencia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primeros espacios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34840" y="19202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16002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con experiencia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método para dar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19202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109728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16002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ingeniería que será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tú no tuviste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27248"/>
            <a:ext cx="822960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735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cada una de ustedes desarrolla a 3 ingenieras, y cada una hace lo mismo: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63931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3152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ustedes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363931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283464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mentoreadas directas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63931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93776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ciclo 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363931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704088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ciclo 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743200" cy="2743200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desarrollar a otra,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mirarte tú.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286000" y="1572768"/>
            <a:ext cx="4572000" cy="0"/>
          </a:xfrm>
          <a:prstGeom prst="line">
            <a:avLst/>
          </a:prstGeom>
          <a:noFill/>
          <a:ln w="12700">
            <a:solidFill>
              <a:srgbClr val="DB27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874520"/>
            <a:ext cx="1572768" cy="2743200"/>
          </a:xfrm>
          <a:prstGeom prst="roundRect">
            <a:avLst>
              <a:gd name="adj" fmla="val 6977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1993392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211226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6344" y="2578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6344" y="30175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¿Desde dónde lidero? ¿Es mío o heredado?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084832" y="1874520"/>
            <a:ext cx="1572768" cy="2743200"/>
          </a:xfrm>
          <a:prstGeom prst="roundRect">
            <a:avLst>
              <a:gd name="adj" fmla="val 6977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96896" y="1993392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340" y="211226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39696" y="2578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139696" y="30175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Lipton: el 70% de lo que absorbemos antes de los 7 es limitante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758184" y="1874520"/>
            <a:ext cx="1572768" cy="2743200"/>
          </a:xfrm>
          <a:prstGeom prst="roundRect">
            <a:avLst>
              <a:gd name="adj" fmla="val 6977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70248" y="1993392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3692" y="211226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13048" y="2578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impostor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813048" y="30175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puedo acompañar a otra a cruzar un río que yo no he cruzado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31536" y="1874520"/>
            <a:ext cx="1572768" cy="2743200"/>
          </a:xfrm>
          <a:prstGeom prst="roundRect">
            <a:avLst>
              <a:gd name="adj" fmla="val 6977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0" y="1993392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7044" y="2112264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6400" y="2578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perdón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0" y="30175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Enright: perdonar es recuperar mi energía, no rendición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104888" y="1874520"/>
            <a:ext cx="1572768" cy="2743200"/>
          </a:xfrm>
          <a:prstGeom prst="roundRect">
            <a:avLst>
              <a:gd name="adj" fmla="val 6977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616952" y="1993392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0396" y="2112264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159752" y="2578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Autocompasión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7159752" y="30175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Neff (Texas): la base del liderazgo sostenible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mentora que opera desde patrones no examinados reproduce exactamente los límites que quiere ayudar a superar."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457200"/>
            <a:ext cx="4572000" cy="45720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cerebro no es fijo.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sesión lo está recableando biológicamente.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17904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BDNF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1554480"/>
            <a:ext cx="0" cy="530352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7792" y="151790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 de crecimiento neuronal — se upregula con práctica deliberada consistente (Nature Communications 2026)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40864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Ondas Theta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0" y="2377440"/>
            <a:ext cx="0" cy="530352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7792" y="234086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cerebral de máxima receptividad — activo en el Modo Sueño nocturno del programa (Theta 6Hz)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63824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 Hebb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0" y="3200400"/>
            <a:ext cx="0" cy="530352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07792" y="316382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 neuronas que se activan juntas, se conectan juntas" — la repetición construye la mentora que quieres ser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86784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 del Yo Futuro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0" y="4023360"/>
            <a:ext cx="0" cy="530352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07792" y="398678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Pascual-Leone (Nature Rev. Neurosci.): la práctica mental activa los mismos circuitos que la experiencia real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 78, el cerebro que tienes es biológicamente diferente al del Día 1.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ocurre en cada sesión — 12 fases en 30 minutos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804672"/>
            <a:ext cx="2011680" cy="1261872"/>
          </a:xfrm>
          <a:prstGeom prst="roundRect">
            <a:avLst>
              <a:gd name="adj" fmla="val 869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859536"/>
            <a:ext cx="411480" cy="4114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595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50976" y="896112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13167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 de sesión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Intención + estado mental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804672"/>
            <a:ext cx="2011680" cy="1261872"/>
          </a:xfrm>
          <a:prstGeom prst="roundRect">
            <a:avLst>
              <a:gd name="adj" fmla="val 869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15184" y="859536"/>
            <a:ext cx="411480" cy="4114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5184" y="8595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27248" y="896112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51760" y="13167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cronometrada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científico · PPM auto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36592" y="804672"/>
            <a:ext cx="2011680" cy="1261872"/>
          </a:xfrm>
          <a:prstGeom prst="roundRect">
            <a:avLst>
              <a:gd name="adj" fmla="val 869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91456" y="859536"/>
            <a:ext cx="411480" cy="4114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8595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896112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28032" y="13167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activo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palabras con fuente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12864" y="804672"/>
            <a:ext cx="2011680" cy="1261872"/>
          </a:xfrm>
          <a:prstGeom prst="roundRect">
            <a:avLst>
              <a:gd name="adj" fmla="val 869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67728" y="859536"/>
            <a:ext cx="411480" cy="4114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67728" y="8595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79792" y="896112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04304" y="13167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activo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04304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preguntas · sin texto visible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" y="2221992"/>
            <a:ext cx="2011680" cy="1261872"/>
          </a:xfrm>
          <a:prstGeom prst="roundRect">
            <a:avLst>
              <a:gd name="adj" fmla="val 869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2276856"/>
            <a:ext cx="411480" cy="4114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2768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50976" y="2313432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7340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dual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mental · 2 rutas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0" y="2221992"/>
            <a:ext cx="2011680" cy="1261872"/>
          </a:xfrm>
          <a:prstGeom prst="roundRect">
            <a:avLst>
              <a:gd name="adj" fmla="val 869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15184" y="2276856"/>
            <a:ext cx="411480" cy="4114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5184" y="22768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127248" y="2313432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651760" y="27340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Loci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65176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 de Memoria · Kwik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36592" y="2221992"/>
            <a:ext cx="2011680" cy="1261872"/>
          </a:xfrm>
          <a:prstGeom prst="roundRect">
            <a:avLst>
              <a:gd name="adj" fmla="val 869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91456" y="2276856"/>
            <a:ext cx="411480" cy="4114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91456" y="22768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03520" y="2313432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28032" y="27340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 analógico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28032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fluida · MIT 2025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912864" y="2221992"/>
            <a:ext cx="2011680" cy="1261872"/>
          </a:xfrm>
          <a:prstGeom prst="roundRect">
            <a:avLst>
              <a:gd name="adj" fmla="val 869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67728" y="2276856"/>
            <a:ext cx="411480" cy="4114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67728" y="22768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479792" y="2313432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004304" y="27340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práctico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004304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Libreta IM física · a mano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84048" y="3639312"/>
            <a:ext cx="2011680" cy="1261872"/>
          </a:xfrm>
          <a:prstGeom prst="roundRect">
            <a:avLst>
              <a:gd name="adj" fmla="val 869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8912" y="3694176"/>
            <a:ext cx="411480" cy="4114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" y="36941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950976" y="3730752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7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5488" y="41513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Feynman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75488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simple = entender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560320" y="3639312"/>
            <a:ext cx="2011680" cy="1261872"/>
          </a:xfrm>
          <a:prstGeom prst="roundRect">
            <a:avLst>
              <a:gd name="adj" fmla="val 869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615184" y="3694176"/>
            <a:ext cx="411480" cy="4114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15184" y="36941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3127248" y="3730752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seg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651760" y="41513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Metacognición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65176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aprendí? ¿Cómo mejoro?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736592" y="3639312"/>
            <a:ext cx="2011680" cy="1261872"/>
          </a:xfrm>
          <a:prstGeom prst="roundRect">
            <a:avLst>
              <a:gd name="adj" fmla="val 869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91456" y="3694176"/>
            <a:ext cx="411480" cy="4114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91456" y="36941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303520" y="3730752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828032" y="41513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 Yo Futuro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828032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 · a mano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912864" y="3639312"/>
            <a:ext cx="2011680" cy="1261872"/>
          </a:xfrm>
          <a:prstGeom prst="roundRect">
            <a:avLst>
              <a:gd name="adj" fmla="val 8696"/>
            </a:avLst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967728" y="3694176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67728" y="36941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7479792" y="3730752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004304" y="41513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Sueño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004304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nocturno · Theta 6Hz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0 a 100 — El programa completo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empezamos y cómo salimos después de 78 sesiones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170432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70432"/>
            <a:ext cx="64008" cy="8412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161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D1-10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Espejo y la Raíz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09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· Epigenética · Impostor · Escritura expresiva · Perdón · Seguridad psicológica · Neuroplasticidad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0016" y="1170432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0016" y="1170432"/>
            <a:ext cx="64008" cy="841248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2161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D11-20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64608" y="1444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Arte de Preguntar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64608" y="1709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 3 niveles · Diálogo socrático · Modelo GROW · Conversaciones de carrera · Feedback CNV · Silenció activo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2139696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139696"/>
            <a:ext cx="64008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1854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D21-30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414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que Construye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679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SBI · CNV Rosenberg · Conversaciones difíciles · Feedback de fortalezas · Feedback contextolatinoam.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0016" y="2139696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0016" y="2139696"/>
            <a:ext cx="64008" cy="8412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1854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D31-40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64608" y="2414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y Ética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2679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sanos del rol · Ética de la mentoría · Dependencia como riesgo · Conflicto de interés · Derivación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" y="3108960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3108960"/>
            <a:ext cx="64008" cy="8412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1546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· D41-50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383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Mentoreada y su Impostor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36484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Steele (Stanford) · Valerie Young · Ibarra (INSEAD) · Identidad de liderazgo · Visibilidad · Autocompasión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0016" y="3108960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0016" y="3108960"/>
            <a:ext cx="64008" cy="841248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1546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 · D51-60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64608" y="3383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Poder y Visibilidad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64608" y="36484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vs mentor · Herminia Ibarra · Visibilidad auténtica · Capital social · Conversaciones de carrera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" y="4078224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" y="4078224"/>
            <a:ext cx="64008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1239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 · D61-70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3525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Multiplicadoras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4617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intencional · Legado · La mentoreada como futura mentora · Comunidad Invictus · Sesión Feynman grupal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0016" y="4078224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0016" y="4078224"/>
            <a:ext cx="64008" cy="8412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41239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 · D71-78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64608" y="43525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en Tecna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64608" y="4617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final · Certificación Invictus Mind · Métricas para gerencia · Expansión interna · Impacto medido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457200"/>
            <a:ext cx="2743200" cy="2743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— El Espejo y la Raíz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040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primeros 10 días. La base que hace posible todo lo que sigue.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207008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261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" y="14813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de liderazgo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17922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Ibarra (INSEAD) · Bandura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207008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261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01568" y="14813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Epigenética y creencias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01568" y="17922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Lipton (Stanford) · Yehuda (Mt. Sinai)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99632" y="1207008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261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14813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intergeneracional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7922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Yehuda · LeDoux (NYU)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212848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22677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" y="24871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síndrome del impostor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" y="27980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Clance · Valerie Young · Steele (Stanford)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2212848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22677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01568" y="24871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 expresiva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01568" y="27980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Pennebaker (UT Austin)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99632" y="2212848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2677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24871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Perdón estratégico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27980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Enright (Wisconsin) · Worthington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" y="3218688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32735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" y="34930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Feynman — integración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" y="38039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· Roediger · Harvard UP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91840" y="3218688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32735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01568" y="34930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psicológica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01568" y="38039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Edmondson (HBS) · Google Aristóteles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99632" y="3218688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2735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9360" y="34930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 deliberada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38039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Dispenza · Nature Communications 2026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4048" y="4224528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42793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3776" y="44988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Bloque 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3776" y="48097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Kegan &amp; Lahey (HBS) · Delta PPM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evolución — visible cada día — y el compromiso que la hace posible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77724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777240"/>
            <a:ext cx="3291840" cy="804672"/>
          </a:xfrm>
          <a:prstGeom prst="roundRect">
            <a:avLst>
              <a:gd name="adj" fmla="val 1363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0" y="8229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PPM inicial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15000" y="106984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577840" y="1691640"/>
            <a:ext cx="3291840" cy="804672"/>
          </a:xfrm>
          <a:prstGeom prst="roundRect">
            <a:avLst>
              <a:gd name="adj" fmla="val 1363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0" y="17373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día 78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15000" y="198424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340+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577840" y="2606040"/>
            <a:ext cx="3291840" cy="804672"/>
          </a:xfrm>
          <a:prstGeom prst="roundRect">
            <a:avLst>
              <a:gd name="adj" fmla="val 13636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0" y="26517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15000" y="289864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75%+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365760" y="3657600"/>
            <a:ext cx="8412480" cy="1234440"/>
          </a:xfrm>
          <a:prstGeom prst="roundRect">
            <a:avLst>
              <a:gd name="adj" fmla="val 8889"/>
            </a:avLst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7216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compromiso que lo hace posible</a:t>
            </a:r>
            <a:endParaRPr lang="en-US" sz="13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05656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04672" y="40690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diarios — sin excepción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105656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19472" y="40690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Libreta Invictus Mind — a mano, todos los días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5312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4672" y="44165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Sueño activo cada noche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453128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919472" y="44165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semanal con las 3 mentoras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657600"/>
            <a:ext cx="2743200" cy="2743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piloto Tecna Corp — cómo lo hacemos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2788920" cy="5943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8755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2529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— hoy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1208" y="1664208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9164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mentoras designadas inician Bloque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2331720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59152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sesiones · 30 min/día · 12 fases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" y="2999232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26664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Libreta Invictus Mind incluida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" y="3666744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94176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 de PPM — línea base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19272" y="96012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9272" y="960120"/>
            <a:ext cx="2788920" cy="5943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98755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10712" y="122529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1-10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29000" y="1664208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2152" y="169164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completo — El Espejo y la Raíz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29000" y="2331720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02152" y="2359152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Feynman grupal — Día 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29000" y="2999232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02152" y="3026664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quincenal de progreso PPM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29000" y="3666744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02152" y="3694176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Bloque 1 — inventario personal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27064" y="96012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27064" y="960120"/>
            <a:ext cx="2788920" cy="5943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8504" y="98755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18504" y="122529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78 — Lo que sale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36792" y="1664208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9944" y="169164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Invictus Mind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36792" y="2331720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9944" y="2359152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evolución cognitiva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36792" y="2999232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9944" y="3026664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presentadas a gerencia Tecna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36792" y="3666744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9944" y="3694176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consolidado para replicar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4114800" cy="4114800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INVICTUS MIND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mentora más poderosa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la que más sabe.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que más confía en lo que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otra puede llegar a ser."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286000" y="3246120"/>
            <a:ext cx="457200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¿Empezamos hoy?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4069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78 sesiones  ·  30 min/día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4069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Bloque 1 completamente gratuito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4416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Libreta Invictus Mind incluida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4416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Piloto Tecna Corp — Mayo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2216</Words>
  <Application>Microsoft Office PowerPoint</Application>
  <PresentationFormat>Presentación en pantalla (16:9)</PresentationFormat>
  <Paragraphs>385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Black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Marjorie Castro</cp:lastModifiedBy>
  <cp:revision>2</cp:revision>
  <dcterms:created xsi:type="dcterms:W3CDTF">2026-05-13T18:37:11Z</dcterms:created>
  <dcterms:modified xsi:type="dcterms:W3CDTF">2026-05-15T11:52:04Z</dcterms:modified>
</cp:coreProperties>
</file>